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0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TITLE SLIDE</a:t>
            </a:r>
          </a:p>
          <a:p>
            <a:endParaRPr/>
          </a:p>
          <a:p>
            <a:r>
              <a:t>"Good morning/afternoon everyone. I'm Mohit Patle and this is my teammate Pushkar Brahmankar. We're presenting our group project — an AI-Powered M&amp;A Arbitrage and Deal Success Predictor.</a:t>
            </a:r>
          </a:p>
          <a:p>
            <a:endParaRPr/>
          </a:p>
          <a:p>
            <a:r>
              <a:t>Our system is called Arbitrage.Terminal — a full-stack platform that helps predict whether mergers and acquisitions will succeed or fail. It combines machine learning, Monte Carlo simulations, and Large Language Models into one unified tool.</a:t>
            </a:r>
          </a:p>
          <a:p>
            <a:endParaRPr/>
          </a:p>
          <a:p>
            <a:r>
              <a:t>We built this using FastAPI on the backend, React 19 on the frontend, MongoDB for data storage, and Claude Sonnet 4.5 for AI-powered regulatory analysis."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THE PROBLEM</a:t>
            </a:r>
          </a:p>
          <a:p>
            <a:endParaRPr/>
          </a:p>
          <a:p>
            <a:r>
              <a:t>"So why did we build this? Let's look at the M&amp;A market.</a:t>
            </a:r>
          </a:p>
          <a:p>
            <a:endParaRPr/>
          </a:p>
          <a:p>
            <a:r>
              <a:t>Global M&amp;A volume hit $3.1 trillion in 2024 alone. That's an enormous market. But here's the thing — 8 to 12 percent of announced deals FAIL every year. They get blocked by regulators, rejected by shareholders, or fall apart due to financing issues.</a:t>
            </a:r>
          </a:p>
          <a:p>
            <a:endParaRPr/>
          </a:p>
          <a:p>
            <a:r>
              <a:t>Merger arbitrage — the strategy of betting on deal completion — manages over $60 billion in assets. These funds need to predict which deals will close and which won't.</a:t>
            </a:r>
          </a:p>
          <a:p>
            <a:endParaRPr/>
          </a:p>
          <a:p>
            <a:r>
              <a:t>The challenge is threefold:</a:t>
            </a:r>
          </a:p>
          <a:p>
            <a:r>
              <a:t>First, deals face review from multiple regulators across different countries — each with different standards. A deal might clear the FTC but get blocked by China's SAMR.</a:t>
            </a:r>
          </a:p>
          <a:p>
            <a:r>
              <a:t>Second, there's massive information overload — hundreds of filings, proxy statements, and news articles per deal.</a:t>
            </a:r>
          </a:p>
          <a:p>
            <a:r>
              <a:t>Third — and this is the key gap — there are NO integrated prediction tools. Bloomberg gives you data, but it doesn't predict outcomes. That's what we built."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SIX MODULES OVERVIEW</a:t>
            </a:r>
          </a:p>
          <a:p>
            <a:endParaRPr/>
          </a:p>
          <a:p>
            <a:r>
              <a:t>"Our platform has six core quantitative modules — all working together.</a:t>
            </a:r>
          </a:p>
          <a:p>
            <a:endParaRPr/>
          </a:p>
          <a:p>
            <a:r>
              <a:t>Module 1 is the Deal Success Prediction Engine. It uses a 12-feature logistic ensemble model to predict the probability of deal completion — like a credit scoring model but for M&amp;A. It also provides SHAP-style attributions showing WHY a prediction is high or low.</a:t>
            </a:r>
          </a:p>
          <a:p>
            <a:endParaRPr/>
          </a:p>
          <a:p>
            <a:r>
              <a:t>Module 2 is Spread Forecasting — it projects the deal spread (the gap between current price and offer price) forward using a mean-reverting time-series model with 95% confidence intervals.</a:t>
            </a:r>
          </a:p>
          <a:p>
            <a:endParaRPr/>
          </a:p>
          <a:p>
            <a:r>
              <a:t>Module 3 is Regulatory Risk Scoring — a 0 to 100 score that quantifies how much regulatory risk a deal faces based on the number of regulators, HHI concentration, sector, and cross-border dynamics.</a:t>
            </a:r>
          </a:p>
          <a:p>
            <a:endParaRPr/>
          </a:p>
          <a:p>
            <a:r>
              <a:t>Module 4 is the Shareholder Vote Simulator — a Monte Carlo simulation with 3,000 random samples that models how institutional investors, retail shareholders, and activist investors might vote.</a:t>
            </a:r>
          </a:p>
          <a:p>
            <a:endParaRPr/>
          </a:p>
          <a:p>
            <a:r>
              <a:t>Module 5 is Geopolitical Friction — a 24-country risk index that scores cross-border deal risk. For example, a US-Canada deal scores very low friction, while a US-China deal scores very high.</a:t>
            </a:r>
          </a:p>
          <a:p>
            <a:endParaRPr/>
          </a:p>
          <a:p>
            <a:r>
              <a:t>Module 6 is LLM-Powered Regulatory Analysis — we use Claude Sonnet 4.5 to generate streaming legal analysis with precedent citations, like having an antitrust attorney on demand."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SYSTEM ARCHITECTURE</a:t>
            </a:r>
          </a:p>
          <a:p>
            <a:endParaRPr/>
          </a:p>
          <a:p>
            <a:r>
              <a:t>"Here's how the system is architected. It's a five-layer stack:</a:t>
            </a:r>
          </a:p>
          <a:p>
            <a:endParaRPr/>
          </a:p>
          <a:p>
            <a:r>
              <a:t>At the top, the Frontend — built with React 19 and TailwindCSS. We use Recharts for financial charts and react-force-graph for network visualizations. The UI is styled like a Bloomberg Terminal with a dark, data-dense layout.</a:t>
            </a:r>
          </a:p>
          <a:p>
            <a:endParaRPr/>
          </a:p>
          <a:p>
            <a:r>
              <a:t>Below that is the API Layer — FastAPI running Python 3.11 with 10 REST endpoints. It handles all data fetching, scenario analysis, and LLM streaming through Server-Sent Events.</a:t>
            </a:r>
          </a:p>
          <a:p>
            <a:endParaRPr/>
          </a:p>
          <a:p>
            <a:r>
              <a:t>The Analytics layer is where the core intelligence lives — our logistic prediction model, Monte Carlo simulator, time-series forecaster, and scenario engine all run here in analytics.py.</a:t>
            </a:r>
          </a:p>
          <a:p>
            <a:endParaRPr/>
          </a:p>
          <a:p>
            <a:r>
              <a:t>The LLM layer connects to Anthropic's Claude Sonnet 4.5 API for on-demand regulatory analysis. Responses are streamed back to the frontend in real-time.</a:t>
            </a:r>
          </a:p>
          <a:p>
            <a:endParaRPr/>
          </a:p>
          <a:p>
            <a:r>
              <a:t>At the bottom, MongoDB stores our deal data. We use the Motor async driver for non-blocking database access, and the database auto-seeds with 30 realistic deals on first startup.</a:t>
            </a:r>
          </a:p>
          <a:p>
            <a:endParaRPr/>
          </a:p>
          <a:p>
            <a:r>
              <a:t>On the right you can see our 7 main API endpoints — from deal listing to scenario simulation."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DEAL SUCCESS PREDICTION ENGINE</a:t>
            </a:r>
          </a:p>
          <a:p>
            <a:endParaRPr/>
          </a:p>
          <a:p>
            <a:r>
              <a:t>"Let me walk through Module 1 in detail — the Deal Success Prediction Engine.</a:t>
            </a:r>
          </a:p>
          <a:p>
            <a:endParaRPr/>
          </a:p>
          <a:p>
            <a:r>
              <a:t>The core formula is shown at the top: P(success) = sigma of 1.40 plus the sum of all feature contributions. Sigma is the logistic function that converts a logit score into a probability between 0 and 1.</a:t>
            </a:r>
          </a:p>
          <a:p>
            <a:endParaRPr/>
          </a:p>
          <a:p>
            <a:r>
              <a:t>We use 12 features, 8 of which are shown here. Each feature either increases or decreases the prediction:</a:t>
            </a:r>
          </a:p>
          <a:p>
            <a:endParaRPr/>
          </a:p>
          <a:p>
            <a:r>
              <a:t>NEGATIVE factors that reduce success probability:</a:t>
            </a:r>
          </a:p>
          <a:p>
            <a:r>
              <a:t>- Deal Size — larger deals are harder to close, so it's negative</a:t>
            </a:r>
          </a:p>
          <a:p>
            <a:r>
              <a:t>- HHI Concentration — higher market concentration draws more regulatory scrutiny</a:t>
            </a:r>
          </a:p>
          <a:p>
            <a:r>
              <a:t>- Regulatory Burden — more regulators = more chances for a block</a:t>
            </a:r>
          </a:p>
          <a:p>
            <a:r>
              <a:t>- Governance Resistance — board opposition or management resistance kills deals</a:t>
            </a:r>
          </a:p>
          <a:p>
            <a:endParaRPr/>
          </a:p>
          <a:p>
            <a:r>
              <a:t>POSITIVE factors:</a:t>
            </a:r>
          </a:p>
          <a:p>
            <a:r>
              <a:t>- Financing Certainty — fully committed financing is a strong positive signal</a:t>
            </a:r>
          </a:p>
          <a:p>
            <a:r>
              <a:t>- Track Record — acquirers with good completion history are more likely to close</a:t>
            </a:r>
          </a:p>
          <a:p>
            <a:endParaRPr/>
          </a:p>
          <a:p>
            <a:r>
              <a:t>On the right, you can see our SHAP-style attributions. For each deal, we output exactly how much each feature contributed to the prediction — like a waterfall chart. This makes the model fully explainable. The sample output shows a deal with 78.3% success probability where financing was the strongest positive factor and regulatory burden was the biggest risk."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SPREAD FORECASTING &amp; MONTE CARLO</a:t>
            </a:r>
          </a:p>
          <a:p>
            <a:endParaRPr/>
          </a:p>
          <a:p>
            <a:r>
              <a:t>"Module 2 is our Spread Forecasting engine. The 'spread' is the gap between a target company's current stock price and the deal offer price. If a $100 offer deal is trading at $95, the spread is $5 or about 5%.</a:t>
            </a:r>
          </a:p>
          <a:p>
            <a:endParaRPr/>
          </a:p>
          <a:p>
            <a:r>
              <a:t>Our model works like this:</a:t>
            </a:r>
          </a:p>
          <a:p>
            <a:r>
              <a:t>- We take 60 days of historical spread data</a:t>
            </a:r>
          </a:p>
          <a:p>
            <a:r>
              <a:t>- We compute an anchor price based on the offer price times our success probability</a:t>
            </a:r>
          </a:p>
          <a:p>
            <a:r>
              <a:t>- Then we project forward using a mean-reverting model — the spread gradually converges to the anchor</a:t>
            </a:r>
          </a:p>
          <a:p>
            <a:r>
              <a:t>- We add a 95% confidence band that widens over time because uncertainty grows</a:t>
            </a:r>
          </a:p>
          <a:p>
            <a:r>
              <a:t>- And we can apply scenario shocks — like 'what if the FTC opens a Phase II investigation'</a:t>
            </a:r>
          </a:p>
          <a:p>
            <a:endParaRPr/>
          </a:p>
          <a:p>
            <a:r>
              <a:t>The visualization uses a Recharts ComposedChart showing historical data as a solid line, the forecast as a dashed line, and the confidence band as a shaded area.</a:t>
            </a:r>
          </a:p>
          <a:p>
            <a:endParaRPr/>
          </a:p>
          <a:p>
            <a:r>
              <a:t>Module 4 is our Monte Carlo Vote Simulator. Many M&amp;A deals require shareholder approval — typically a majority vote. We model this with 3,000 Monte Carlo simulations.</a:t>
            </a:r>
          </a:p>
          <a:p>
            <a:endParaRPr/>
          </a:p>
          <a:p>
            <a:r>
              <a:t>We split shareholders into blocs — institutional investors like BlackRock and Vanguard who hold about 75% of shares, retail investors at 25%, and activist investors who may push for or against the deal. Each bloc has a different mean lean and standard deviation. The output gives us the probability of shareholder approval with a 95% confidence interval."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REGULATORY RISK &amp; GEOPOLITICAL FRICTION</a:t>
            </a:r>
          </a:p>
          <a:p>
            <a:endParaRPr/>
          </a:p>
          <a:p>
            <a:r>
              <a:t>"Module 3 quantifies regulatory risk on a 0-to-100 scale.</a:t>
            </a:r>
          </a:p>
          <a:p>
            <a:endParaRPr/>
          </a:p>
          <a:p>
            <a:r>
              <a:t>The scoring starts with a base of 25, plus 6 points for each regulator reviewing the deal. So a deal reviewed by 4 regulators already starts at 49.</a:t>
            </a:r>
          </a:p>
          <a:p>
            <a:endParaRPr/>
          </a:p>
          <a:p>
            <a:r>
              <a:t>Then we add adjustments:</a:t>
            </a:r>
          </a:p>
          <a:p>
            <a:r>
              <a:t>- HHI change — this measures how much market concentration increases. The DOJ and FTC use this metric in real antitrust reviews.</a:t>
            </a:r>
          </a:p>
          <a:p>
            <a:r>
              <a:t>- If HHI exceeds 200 points of change, that's a flag. Above 600 is a potential killer-acquisition.</a:t>
            </a:r>
          </a:p>
          <a:p>
            <a:r>
              <a:t>- Specific regulators add extra risk — CFIUS adds 10 points because national security reviews are unpredictable, SAMR adds 10 because Chinese approval has become a geopolitical tool.</a:t>
            </a:r>
          </a:p>
          <a:p>
            <a:r>
              <a:t>- Cross-border deals get a 6-point premium because they face multiple jurisdictions.</a:t>
            </a:r>
          </a:p>
          <a:p>
            <a:r>
              <a:t>- Certain sectors face extra scrutiny — Technology +10, Healthcare +12.</a:t>
            </a:r>
          </a:p>
          <a:p>
            <a:endParaRPr/>
          </a:p>
          <a:p>
            <a:r>
              <a:t>Module 5 is Geopolitical Friction. We built a 24-country friction index. Canada and Singapore are low-risk at 0.10 and 0.18. The US is moderate at 0.15. China is 0.85 and Russia is 0.95.</a:t>
            </a:r>
          </a:p>
          <a:p>
            <a:endParaRPr/>
          </a:p>
          <a:p>
            <a:r>
              <a:t>The formula multiplies the acquirer and target country frictions, scaled by whether the deal is cross-border. A domestic US deal scores about 10 out of 100. A US-China cross-border deal can score 70+."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LLM-POWERED REGULATORY ANALYSIS</a:t>
            </a:r>
          </a:p>
          <a:p>
            <a:endParaRPr/>
          </a:p>
          <a:p>
            <a:r>
              <a:t>"Module 6 is our AI-powered analysis engine using Claude Sonnet 4.5 from Anthropic.</a:t>
            </a:r>
          </a:p>
          <a:p>
            <a:endParaRPr/>
          </a:p>
          <a:p>
            <a:r>
              <a:t>We prompt the LLM with the system role of 'Senior M&amp;A antitrust attorney at a top-tier merger arbitrage hedge fund'. This ensures the responses are professional, legal-grade analysis — not generic chatbot answers.</a:t>
            </a:r>
          </a:p>
          <a:p>
            <a:endParaRPr/>
          </a:p>
          <a:p>
            <a:r>
              <a:t>We inject full context into every prompt: the deal metadata, which regulators are reviewing it, HHI concentration data, cross-border dynamics, and importantly — the outputs from our other 5 modules. So the LLM knows the quantitative probability and risk scores before generating its analysis.</a:t>
            </a:r>
          </a:p>
          <a:p>
            <a:endParaRPr/>
          </a:p>
          <a:p>
            <a:r>
              <a:t>We require 5 specific outputs: top 3 antitrust concerns, precedent cases with outcomes, likely remedies, timeline estimate, and a final trading recommendation.</a:t>
            </a:r>
          </a:p>
          <a:p>
            <a:endParaRPr/>
          </a:p>
          <a:p>
            <a:r>
              <a:t>The streaming architecture is key for UX. We use Server-Sent Events — the LLM response streams in real-time, token by token, with a typing effect in the UI. Users can stop generation mid-stream with an abort button.</a:t>
            </a:r>
          </a:p>
          <a:p>
            <a:endParaRPr/>
          </a:p>
          <a:p>
            <a:r>
              <a:t>The LLM references real historical cases: Microsoft-Activision where the CMA initially blocked but lost on appeal, Nvidia-Arm which was abandoned after FTC opposition, and Adobe-Figma which was abandoned due to EU and UK resistance."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TECHNOLOGY STACK</a:t>
            </a:r>
          </a:p>
          <a:p>
            <a:endParaRPr/>
          </a:p>
          <a:p>
            <a:r>
              <a:t>"Let me walk through our tech stack choices.</a:t>
            </a:r>
          </a:p>
          <a:p>
            <a:endParaRPr/>
          </a:p>
          <a:p>
            <a:r>
              <a:t>On the backend, we chose FastAPI because it's the fastest Python web framework with built-in async support — critical for our streaming LLM responses. MongoDB with the Motor async driver gives us flexible document storage without schema constraints — perfect for M&amp;A deals with varying data fields. Pydantic handles all input validation, and Uvicorn serves the ASGI application.</a:t>
            </a:r>
          </a:p>
          <a:p>
            <a:endParaRPr/>
          </a:p>
          <a:p>
            <a:r>
              <a:t>For computation, NumPy handles our Monte Carlo simulations (3,000 samples) and Pandas manages tabular data transformations.</a:t>
            </a:r>
          </a:p>
          <a:p>
            <a:endParaRPr/>
          </a:p>
          <a:p>
            <a:r>
              <a:t>On the frontend, React 19 is our component framework. TailwindCSS handles styling — we built a Bloomberg-terminal-style dark theme with data-dense layouts. Recharts renders our financial charts — the spread forecast, confidence bands, and attribution bars. react-force-graph-2d powers our interactive deal ecosystem network visualization. Framer Motion adds smooth animations.</a:t>
            </a:r>
          </a:p>
          <a:p>
            <a:endParaRPr/>
          </a:p>
          <a:p>
            <a:r>
              <a:t>Our design philosophy follows Bloomberg Terminal conventions: dark background, monospaced fonts for all numbers using JetBrains Mono, LED-style status indicators in green/amber/red, and sharp 1px borders everywhere."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UI COMPONENTS &amp; PAGES</a:t>
            </a:r>
          </a:p>
          <a:p>
            <a:endParaRPr/>
          </a:p>
          <a:p>
            <a:r>
              <a:t>"We built 7 custom components, each serving a specific analytical purpose:</a:t>
            </a:r>
          </a:p>
          <a:p>
            <a:endParaRPr/>
          </a:p>
          <a:p>
            <a:r>
              <a:t>HealthGauge is a custom SVG semicircular gauge — like a car speedometer — that shows overall deal health with color-coded zones: green for healthy, amber for caution, red for danger.</a:t>
            </a:r>
          </a:p>
          <a:p>
            <a:endParaRPr/>
          </a:p>
          <a:p>
            <a:r>
              <a:t>SpreadChart is our financial chart showing historical price data, projected forecast, and the 95% confidence band. It uses Recharts ComposedChart with area fills.</a:t>
            </a:r>
          </a:p>
          <a:p>
            <a:endParaRPr/>
          </a:p>
          <a:p>
            <a:r>
              <a:t>ForceGraph renders the entire deal ecosystem as an interactive network — acquirers, targets, regulators, shareholders, activists all connected with force-directed physics.</a:t>
            </a:r>
          </a:p>
          <a:p>
            <a:endParaRPr/>
          </a:p>
          <a:p>
            <a:r>
              <a:t>LlmAnalyzePanel is the AI analysis display — it consumes the SSE stream from the backend and renders markdown in real-time with a typing effect.</a:t>
            </a:r>
          </a:p>
          <a:p>
            <a:endParaRPr/>
          </a:p>
          <a:p>
            <a:r>
              <a:t>LiveTicker shows a scrolling news feed of synthetic headlines — regulatory updates, market moves, activist announcements.</a:t>
            </a:r>
          </a:p>
          <a:p>
            <a:endParaRPr/>
          </a:p>
          <a:p>
            <a:r>
              <a:t>AttributionBars is our SHAP explainability component — bidirectional horizontal bars showing which features push the prediction up (green) or down (red).</a:t>
            </a:r>
          </a:p>
          <a:p>
            <a:endParaRPr/>
          </a:p>
          <a:p>
            <a:r>
              <a:t>MilestoneTimeline tracks deal milestones — filing dates, regulatory reviews, shareholder votes — with LED-style status indicators.</a:t>
            </a:r>
          </a:p>
          <a:p>
            <a:endParaRPr/>
          </a:p>
          <a:p>
            <a:r>
              <a:t>These are organized into 4 pages: the Dashboard showing all deals, Deal Detail for deep analysis, the What-If Simulator for scenario testing, and the About page."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WHAT-IF SCENARIO SIMULATOR</a:t>
            </a:r>
          </a:p>
          <a:p>
            <a:endParaRPr/>
          </a:p>
          <a:p>
            <a:r>
              <a:t>"This is one of our most powerful features — the What-If Scenario Simulator.</a:t>
            </a:r>
          </a:p>
          <a:p>
            <a:endParaRPr/>
          </a:p>
          <a:p>
            <a:r>
              <a:t>The idea is simple: what happens to a deal's prediction if something changes? We let users apply 'shocks' and see the cascading effects in real-time.</a:t>
            </a:r>
          </a:p>
          <a:p>
            <a:endParaRPr/>
          </a:p>
          <a:p>
            <a:r>
              <a:t>Available shocks include:</a:t>
            </a:r>
          </a:p>
          <a:p>
            <a:r>
              <a:t>- FTC or EU Phase II Investigation — this increases governance resistance by 0.20 and bumps HHI change by 150 points. In real life, a Phase II investigation is a major negative signal.</a:t>
            </a:r>
          </a:p>
          <a:p>
            <a:r>
              <a:t>- Competing Bidder — if a rival bidder emerges, the deal dynamics change completely. We increase competing_bidder_prob by 0.30.</a:t>
            </a:r>
          </a:p>
          <a:p>
            <a:r>
              <a:t>- New Activist — activist investors can push for higher prices or block deals. We model this with a 0.25 intensity increase.</a:t>
            </a:r>
          </a:p>
          <a:p>
            <a:r>
              <a:t>- Interest Rate and VIX shocks — macro factors that affect financing costs and market volatility.</a:t>
            </a:r>
          </a:p>
          <a:p>
            <a:endParaRPr/>
          </a:p>
          <a:p>
            <a:r>
              <a:t>The key insight is CASCADING EFFECTS. When you apply a single shock, ALL six modules recompute:</a:t>
            </a:r>
          </a:p>
          <a:p>
            <a:r>
              <a:t>- The success probability drops (in this example from 72.4% to 53.1%)</a:t>
            </a:r>
          </a:p>
          <a:p>
            <a:r>
              <a:t>- The regulatory risk score increases</a:t>
            </a:r>
          </a:p>
          <a:p>
            <a:r>
              <a:t>- The shareholder vote simulation re-runs with new parameters</a:t>
            </a:r>
          </a:p>
          <a:p>
            <a:r>
              <a:t>- The spread forecast re-projects with wider confidence bands</a:t>
            </a:r>
          </a:p>
          <a:p>
            <a:endParaRPr/>
          </a:p>
          <a:p>
            <a:r>
              <a:t>This gives analysts a complete picture of how a single event would ripple through the entire deal."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DEAL ECOSYSTEM GRAPH</a:t>
            </a:r>
          </a:p>
          <a:p>
            <a:endParaRPr/>
          </a:p>
          <a:p>
            <a:r>
              <a:t>"The Force-Directed Graph is our network visualization feature. For each deal, we build a complete ecosystem graph showing all relevant entities and their relationships.</a:t>
            </a:r>
          </a:p>
          <a:p>
            <a:endParaRPr/>
          </a:p>
          <a:p>
            <a:r>
              <a:t>We define 8 node types, each with a distinct color:</a:t>
            </a:r>
          </a:p>
          <a:p>
            <a:r>
              <a:t>- The Acquirer (cyan) and Target (green) are the central nodes</a:t>
            </a:r>
          </a:p>
          <a:p>
            <a:r>
              <a:t>- Regulators in red — like FTC, CMA, SAMR</a:t>
            </a:r>
          </a:p>
          <a:p>
            <a:r>
              <a:t>- Sectors in amber — Technology, Energy, etc.</a:t>
            </a:r>
          </a:p>
          <a:p>
            <a:r>
              <a:t>- Geography nodes show where companies are domiciled</a:t>
            </a:r>
          </a:p>
          <a:p>
            <a:r>
              <a:t>- Institutional shareholders like BlackRock and Vanguard</a:t>
            </a:r>
          </a:p>
          <a:p>
            <a:r>
              <a:t>- Activists who may push for or against the deal</a:t>
            </a:r>
          </a:p>
          <a:p>
            <a:r>
              <a:t>- And potential rival bidders</a:t>
            </a:r>
          </a:p>
          <a:p>
            <a:endParaRPr/>
          </a:p>
          <a:p>
            <a:r>
              <a:t>These are connected by 7 edge types: ACQUIRES, REVIEWS, OPERATES_IN, and so on. The graph uses force-directed physics — nodes repel each other but edges pull connected nodes together. The result is an organic, interactive layout where you can see the deal's entire ecosystem at a glance.</a:t>
            </a:r>
          </a:p>
          <a:p>
            <a:endParaRPr/>
          </a:p>
          <a:p>
            <a:r>
              <a:t>We built this using react-force-graph-2d with custom Canvas rendering, neon glow effects for a terminal aesthetic, and directional particles flowing along the edges to show the direction of relationships."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BENCHMARKING &amp; COMPARISON</a:t>
            </a:r>
          </a:p>
          <a:p>
            <a:endParaRPr/>
          </a:p>
          <a:p>
            <a:r>
              <a:t>"Let me show you our validation results and how we compare to industry tools.</a:t>
            </a:r>
          </a:p>
          <a:p>
            <a:endParaRPr/>
          </a:p>
          <a:p>
            <a:r>
              <a:t>We tested our system against real-world deal characteristics:</a:t>
            </a:r>
          </a:p>
          <a:p>
            <a:r>
              <a:t>- Broadcom-VMware, a large cross-border tech deal with 4 regulators: our model gave 67.4% success probability and regulatory risk of 74. This aligns well — the deal did close but faced significant regulatory scrutiny.</a:t>
            </a:r>
          </a:p>
          <a:p>
            <a:r>
              <a:t>- ExxonMobil-Pioneer, a domestic cash deal with only FTC review: 78.2% probability, risk 48 — much lower risk profile, which makes sense for a domestic energy deal.</a:t>
            </a:r>
          </a:p>
          <a:p>
            <a:r>
              <a:t>- Applied Materials-Kokusai, a semiconductor deal requiring CFIUS and SAMR approval: only 55.1% probability with risk score 86 — very high risk due to US-China semiconductor tensions.</a:t>
            </a:r>
          </a:p>
          <a:p>
            <a:r>
              <a:t>- Reliance-Viacom18, an Indian media deal: 82.7% with moderate risk — Indian regulators CCI and NCLT are generally less aggressive.</a:t>
            </a:r>
          </a:p>
          <a:p>
            <a:endParaRPr/>
          </a:p>
          <a:p>
            <a:r>
              <a:t>For scenario testing, the FTC Phase II shock produced an average 19.3 percentage point drop in success probability — a significant and realistic impact.</a:t>
            </a:r>
          </a:p>
          <a:p>
            <a:endParaRPr/>
          </a:p>
          <a:p>
            <a:r>
              <a:t>Our Monte Carlo simulations produce stable confidence intervals of ±3-5 percentage points across 3,000 samples.</a:t>
            </a:r>
          </a:p>
          <a:p>
            <a:endParaRPr/>
          </a:p>
          <a:p>
            <a:r>
              <a:t>On performance, everything runs under 350 milliseconds except LLM analysis at about 800ms for the first token.</a:t>
            </a:r>
          </a:p>
          <a:p>
            <a:endParaRPr/>
          </a:p>
          <a:p>
            <a:r>
              <a:t>Compared to Bloomberg ($24K/year) and Refinitiv ($15K/year): they provide DATA but none of these predictive features. We offer ML prediction, vote simulation, scenario analysis, LLM analysis, and ecosystem visualization — all for free."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LIMITATIONS &amp; FUTURE WORK</a:t>
            </a:r>
          </a:p>
          <a:p>
            <a:endParaRPr/>
          </a:p>
          <a:p>
            <a:r>
              <a:t>"We want to be transparent about our system's current limitations.</a:t>
            </a:r>
          </a:p>
          <a:p>
            <a:endParaRPr/>
          </a:p>
          <a:p>
            <a:r>
              <a:t>First, we use synthetic data — our 30 deals are based on real M&amp;A transactions but with manually crafted parameters. We haven't validated against actual market outcomes.</a:t>
            </a:r>
          </a:p>
          <a:p>
            <a:endParaRPr/>
          </a:p>
          <a:p>
            <a:r>
              <a:t>Second, our models are heuristic — the weights in our prediction engine were manually calibrated based on domain research, not learned from historical training data. This is a proof of concept, not a production-grade quantitative model.</a:t>
            </a:r>
          </a:p>
          <a:p>
            <a:endParaRPr/>
          </a:p>
          <a:p>
            <a:r>
              <a:t>Third, there are no live data feeds. In production, this would need Bloomberg B-PIPE for real-time market data, SEC EDGAR for regulatory filings, and news API feeds.</a:t>
            </a:r>
          </a:p>
          <a:p>
            <a:endParaRPr/>
          </a:p>
          <a:p>
            <a:r>
              <a:t>Fourth, LLM hallucination is a real concern. Claude Sonnet generates highly plausible analysis, but may cite precedent cases incorrectly or provide inaccurate timelines. In production, we'd implement a RAG pipeline with a vector database indexing actual FTC and EU competition decisions.</a:t>
            </a:r>
          </a:p>
          <a:p>
            <a:endParaRPr/>
          </a:p>
          <a:p>
            <a:r>
              <a:t>Fifth, we only model USD — no foreign exchange risk for cross-border deals.</a:t>
            </a:r>
          </a:p>
          <a:p>
            <a:endParaRPr/>
          </a:p>
          <a:p>
            <a:r>
              <a:t>For future work, the top priorities would be: training actual ML models on 2,000+ historical deals using XGBoost, implementing RAG for grounded LLM responses, adding a real-time alert system, and building portfolio optimization with Kelly criterion and correlated failure modeling."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— DATASET</a:t>
            </a:r>
          </a:p>
          <a:p>
            <a:endParaRPr/>
          </a:p>
          <a:p>
            <a:r>
              <a:t>"Our system is seeded with 30 synthetic M&amp;A deals, all based on real-world transactions.</a:t>
            </a:r>
          </a:p>
          <a:p>
            <a:endParaRPr/>
          </a:p>
          <a:p>
            <a:r>
              <a:t>Here are some highlights:</a:t>
            </a:r>
          </a:p>
          <a:p>
            <a:r>
              <a:t>- Microsoft acquiring Activision Blizzard for $68.7 billion — the largest gaming deal ever. This one faced review from FOUR regulators: FTC, CMA, EU Commission, and China's SAMR. It eventually closed after Microsoft won a CMA appeal.</a:t>
            </a:r>
          </a:p>
          <a:p>
            <a:r>
              <a:t>- Broadcom acquiring VMware for $61 billion — also reviewed by 4 regulators, cleared after divestitures.</a:t>
            </a:r>
          </a:p>
          <a:p>
            <a:r>
              <a:t>- ExxonMobil acquiring Pioneer for $64.5 billion — a domestic energy deal with only FTC review. Much simpler.</a:t>
            </a:r>
          </a:p>
          <a:p>
            <a:r>
              <a:t>- Chevron-Hess at $53 billion — still pending due to arbitration with ExxonMobil over Guyana assets.</a:t>
            </a:r>
          </a:p>
          <a:p>
            <a:r>
              <a:t>- Reliance-Viacom18 — an $8.5 billion Indian media deal reviewed by CCI, NCLT, and SEBI.</a:t>
            </a:r>
          </a:p>
          <a:p>
            <a:r>
              <a:t>- Applied Materials-Kokusai — a $9 billion semiconductor deal requiring SAMR, JFTC, and CFIUS approval.</a:t>
            </a:r>
          </a:p>
          <a:p>
            <a:endParaRPr/>
          </a:p>
          <a:p>
            <a:r>
              <a:t>Our dataset spans 12+ industry sectors, involves 18 different regulators, and covers companies from 24 countries. This diversity ensures our models are tested across a wide range of deal characteristics."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— CONCLUSION &amp; THANK YOU</a:t>
            </a:r>
          </a:p>
          <a:p>
            <a:endParaRPr/>
          </a:p>
          <a:p>
            <a:r>
              <a:t>"To wrap up — we've successfully built Arbitrage.Terminal, a full-stack AI platform for merger arbitrage analysis.</a:t>
            </a:r>
          </a:p>
          <a:p>
            <a:endParaRPr/>
          </a:p>
          <a:p>
            <a:r>
              <a:t>Let me recap the key numbers:</a:t>
            </a:r>
          </a:p>
          <a:p>
            <a:r>
              <a:t>- 6 quantitative modules working together — prediction, forecasting, risk scoring, vote simulation, geopolitical friction, and LLM analysis</a:t>
            </a:r>
          </a:p>
          <a:p>
            <a:r>
              <a:t>- 30 synthetic deals spanning 12 sectors and 24 countries</a:t>
            </a:r>
          </a:p>
          <a:p>
            <a:r>
              <a:t>- 10 API endpoints powering the entire system</a:t>
            </a:r>
          </a:p>
          <a:p>
            <a:r>
              <a:t>- 7 custom-built frontend components</a:t>
            </a:r>
          </a:p>
          <a:p>
            <a:endParaRPr/>
          </a:p>
          <a:p>
            <a:r>
              <a:t>The main takeaway is this: while Bloomberg and Refinitiv charge $15-24K per year for data terminals, our platform provides PREDICTIVE intelligence — not just data — for free. We've demonstrated that combining traditional quantitative finance with modern AI can create a genuinely useful decision-support tool.</a:t>
            </a:r>
          </a:p>
          <a:p>
            <a:endParaRPr/>
          </a:p>
          <a:p>
            <a:r>
              <a:t>Thank you! We're happy to take any questions."</a:t>
            </a:r>
          </a:p>
          <a:p>
            <a:endParaRPr/>
          </a:p>
          <a:p>
            <a:r>
              <a:t>POTENTIAL Q&amp;A ANSWERS:</a:t>
            </a:r>
          </a:p>
          <a:p>
            <a:endParaRPr/>
          </a:p>
          <a:p>
            <a:r>
              <a:t>Q: "Why not use a trained ML model?"</a:t>
            </a:r>
          </a:p>
          <a:p>
            <a:r>
              <a:t>A: "This is a proof of concept. With historical deal data from Bloomberg or Refinitiv, we'd train XGBoost on 2,000+ deals. The architecture supports swapping in any model."</a:t>
            </a:r>
          </a:p>
          <a:p>
            <a:endParaRPr/>
          </a:p>
          <a:p>
            <a:r>
              <a:t>Q: "How do you handle LLM hallucination?"</a:t>
            </a:r>
          </a:p>
          <a:p>
            <a:r>
              <a:t>A: "In production, we'd implement RAG with a vector database indexing actual FTC and EU competition decisions. For now, the LLM is grounded with our quantitative model outputs."</a:t>
            </a:r>
          </a:p>
          <a:p>
            <a:endParaRPr/>
          </a:p>
          <a:p>
            <a:r>
              <a:t>Q: "Can this run in production?"</a:t>
            </a:r>
          </a:p>
          <a:p>
            <a:r>
              <a:t>A: "The architecture is production-ready — FastAPI handles thousands of requests, MongoDB scales horizontally, and SSE streaming is battle-tested. The main gap is live data integration."</a:t>
            </a:r>
          </a:p>
          <a:p>
            <a:endParaRPr/>
          </a:p>
          <a:p>
            <a:r>
              <a:t>Q: "Why MongoDB instead of PostgreSQL?"</a:t>
            </a:r>
          </a:p>
          <a:p>
            <a:r>
              <a:t>A: "M&amp;A deals have varying data fields — some have CFIUS reviews, others don't. MongoDB's flexible schema handles this naturally without schema migrations."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91840" y="764032"/>
            <a:ext cx="55778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PGP AI &amp; DATA SCIENCE  · 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77340"/>
            <a:ext cx="9966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600" b="1" dirty="0">
                <a:solidFill>
                  <a:srgbClr val="0F172A"/>
                </a:solidFill>
                <a:latin typeface="Calibri"/>
              </a:rPr>
              <a:t>AI-Powered M&amp;A Arbitrage &amp;
Deal Success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108960"/>
            <a:ext cx="8869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dirty="0">
                <a:solidFill>
                  <a:srgbClr val="334155"/>
                </a:solidFill>
                <a:latin typeface="Calibri"/>
              </a:rPr>
              <a:t>An intelligent platform integrating quantitative ML models, Monte Carlo simulations, and LLM-powered regulatory analysis for merger arbitrage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8620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FastAPI   ·   React 19   ·   MongoDB   ·   Claude Sonnet 4.5   ·   Monte Carlo   ·  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 dirty="0">
                <a:solidFill>
                  <a:srgbClr val="0F172A"/>
                </a:solidFill>
                <a:latin typeface="Calibri"/>
              </a:rPr>
              <a:t>Mohit Patle (27PGAI0102)   </a:t>
            </a:r>
            <a:endParaRPr lang="en-US" sz="1700" b="1" dirty="0">
              <a:solidFill>
                <a:srgbClr val="0F172A"/>
              </a:solidFill>
              <a:latin typeface="Calibri"/>
            </a:endParaRPr>
          </a:p>
          <a:p>
            <a:pPr algn="ctr"/>
            <a:r>
              <a:rPr sz="1700" b="1" dirty="0">
                <a:solidFill>
                  <a:srgbClr val="0F172A"/>
                </a:solidFill>
                <a:latin typeface="Calibri"/>
              </a:rPr>
              <a:t>   Pushkar Brahmankar (27PGAI0100)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3492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dirty="0">
                <a:solidFill>
                  <a:srgbClr val="2563EB"/>
                </a:solidFill>
                <a:latin typeface="Calibri"/>
              </a:rPr>
              <a:t>Jio 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669280"/>
            <a:ext cx="3931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dirty="0">
                <a:solidFill>
                  <a:srgbClr val="94A3B8"/>
                </a:solidFill>
                <a:latin typeface="Calibri"/>
              </a:rPr>
              <a:t>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Why M&amp;A Deal Prediction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Mergers &amp; Acquisitions worth trillions of dollars face uncertain completion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2563EB"/>
                </a:solidFill>
                <a:latin typeface="Consolas"/>
              </a:rPr>
              <a:t>$3.1T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Global M&amp;A Volume (2024)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5123" y="196596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C2626"/>
                </a:solidFill>
                <a:latin typeface="Consolas"/>
              </a:rPr>
              <a:t>8–12%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Deals that FAIL annually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6" y="196596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97706"/>
                </a:solidFill>
                <a:latin typeface="Consolas"/>
              </a:rPr>
              <a:t>$60B+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Merger Arb AUM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449" y="196596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059669"/>
                </a:solidFill>
                <a:latin typeface="Consolas"/>
              </a:rPr>
              <a:t>18+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Global Regulators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0545775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⚠  Multi-jurisdictional regulatory uncertainty — FTC, EU Commission, CMA, SAMR, and CFIUS all review deals simultaneously with different legal standards and timelines.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45775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📊  Information overload — Analysts must track 20+ active deals with hundreds of filings, proxy materials, precedent rulings, and macroeconomic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45775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🔮  No integrated prediction tools — Bloomberg and Refinitiv provide data, but no unified platform predicts deal outcomes with ML and scenario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Six Quantitative Modules in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Arbitrage.Terminal integrates ML prediction, simulation, risk scoring &amp; LLM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📈 Module 1: Deal Success Prediction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12-feature logistic ensemble with SHAP-style explainability. Outputs probability + feature attributions.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2226" y="196596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📉 Module 2: Spread Forecasting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Time-series projection with 95% confidence bands. 60-day lookback + forward projection up to 180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196596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⚖️ Module 3: Regulatory Risk Scoring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0–100 score with explainable factors. Covers 18 global regulators and sector-specific scrutiny.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🗳️ Module 4: Shareholder Vote Sim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Monte Carlo with 3,000 samples. Models institutional, retail &amp; activist blocs with 95% 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2226" y="411480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🌍 Module 5: Geopolitical Friction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24-country friction index scoring cross-border deal risk from Singapore (0.18) to China (0.85).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1492" y="4114800"/>
            <a:ext cx="3396386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🤖 Module 6: LLM Regulatory Analysis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Claude Sonnet 4.5 streaming analysis with precedent citations and actionable recommendations.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Five-layer client-server architecture with clear separation of concerns.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669280" cy="6217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FRONTEND:  </a:t>
            </a:r>
            <a:r>
              <a:rPr sz="1300">
                <a:solidFill>
                  <a:srgbClr val="FFFFFF"/>
                </a:solidFill>
                <a:latin typeface="Calibri"/>
              </a:rPr>
              <a:t>React 19  ·  TailwindCSS  ·  Recharts  ·  Force-Graph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56032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669280" cy="6217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API LAYER:  </a:t>
            </a:r>
            <a:r>
              <a:rPr sz="1300">
                <a:solidFill>
                  <a:srgbClr val="FFFFFF"/>
                </a:solidFill>
                <a:latin typeface="Calibri"/>
              </a:rPr>
              <a:t>FastAPI (Python 3.11)  ·  10 REST Endpoints  ·  SSE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33756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5669280" cy="6217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ANALYTICS:  </a:t>
            </a:r>
            <a:r>
              <a:rPr sz="1300">
                <a:solidFill>
                  <a:srgbClr val="FFFFFF"/>
                </a:solidFill>
                <a:latin typeface="Calibri"/>
              </a:rPr>
              <a:t>Logistic Ensemble  ·  Monte Carlo  ·  Time-Series  ·  Scenario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11480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97680"/>
            <a:ext cx="5669280" cy="6217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 LAYER:  </a:t>
            </a:r>
            <a:r>
              <a:rPr sz="1300">
                <a:solidFill>
                  <a:srgbClr val="FFFFFF"/>
                </a:solidFill>
                <a:latin typeface="Calibri"/>
              </a:rPr>
              <a:t>Claude Sonnet 4.5 (Anthropic)  ·  Streaming SSE  ·  Precedent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92040"/>
            <a:ext cx="457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5669280" cy="6217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DATABASE:  </a:t>
            </a:r>
            <a:r>
              <a:rPr sz="1300">
                <a:solidFill>
                  <a:srgbClr val="FFFFFF"/>
                </a:solidFill>
                <a:latin typeface="Calibri"/>
              </a:rPr>
              <a:t>MongoDB  ·  Motor Async Driver  ·  30 Synthetic M&amp;A Deals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0079" y="1888236"/>
            <a:ext cx="4785054" cy="3886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2563EB"/>
                </a:solidFill>
                <a:latin typeface="Calibri"/>
              </a:rPr>
              <a:t>KEY API ENDPOINTS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GET  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/deals                         — List all deals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GET  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/deals/{id}                  — Deal + analytics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GET  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/deals/{id}/graph        — Ecosystem graph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POST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/deals/{id}/scenario   — What-if simulation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POST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/regulatory/analyze    — LLM analysis (SSE)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GET  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/portfolio/summary    — Portfolio stats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GET    /</a:t>
            </a:r>
            <a:r>
              <a:rPr sz="1300" dirty="0" err="1">
                <a:solidFill>
                  <a:srgbClr val="334155"/>
                </a:solidFill>
                <a:latin typeface="Calibri"/>
              </a:rPr>
              <a:t>api</a:t>
            </a:r>
            <a:r>
              <a:rPr sz="1300" dirty="0">
                <a:solidFill>
                  <a:srgbClr val="334155"/>
                </a:solidFill>
                <a:latin typeface="Calibri"/>
              </a:rPr>
              <a:t>/news-feed                  — Live ticker</a:t>
            </a:r>
          </a:p>
        </p:txBody>
      </p:sp>
      <p:sp>
        <p:nvSpPr>
          <p:cNvPr id="15" name="Rectangle 14"/>
          <p:cNvSpPr/>
          <p:nvPr/>
        </p:nvSpPr>
        <p:spPr>
          <a:xfrm flipH="1">
            <a:off x="6739466" y="1920748"/>
            <a:ext cx="47412" cy="382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MODULE 1 —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Deal Success Prediction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12-feature logistic ensemble with SHAP-style explainability.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35727" cy="563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1600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Consolas"/>
              </a:rPr>
              <a:t>P(success) = σ(1.40 + Σ feature_contributions)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6060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06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Deal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8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26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−0.015 × log(1+val)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HHI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918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−0.0018 × 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Regulatory Burden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576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576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−0.35 × avg_strictness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Governance Resistance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0233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23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−0.85 × gov − 1.10 ×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Financing 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89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Positive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3891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+0.85 × certainty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Track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5488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Positive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+0.70 × (rate − 0.5)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Competing Bidder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206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1206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−0.40 × prob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Activist Pressure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864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Negative 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4864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onsolas"/>
              </a:rPr>
              <a:t>−0.55 × intensity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1920240"/>
            <a:ext cx="5135727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2563EB"/>
                </a:solidFill>
                <a:latin typeface="Calibri"/>
              </a:rPr>
              <a:t>SHAP-STYLE ATTRIBUTIONS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Each feature outputs its raw contribution to the logit: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Bidirectional bar charts (green = positive, red = negative)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Transparent 'why this prediction' explainability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Identification of dominant risk factors per deal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Enables cross-deal comparison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79" y="4320540"/>
            <a:ext cx="5135727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64748B"/>
                </a:solidFill>
                <a:latin typeface="Calibri"/>
              </a:rPr>
              <a:t>SAMPLE OUTPUT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{ "probability": 0.7832,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  "logit": 1.284,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  "attributions": {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    "Deal Size": -0.063,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    "Financing Certainty": +0.808,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200" dirty="0">
                <a:solidFill>
                  <a:srgbClr val="64748B"/>
                </a:solidFill>
                <a:latin typeface="Calibri"/>
              </a:rPr>
              <a:t>    "Regulatory Burden": -0.280 } 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MODULES 2 &amp;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Spread Forecasting &amp; Monte Carlo Vote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Time-series price projection + shareholder vote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SPREAD FORECASTING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60-day historical lookback + forward projection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Anchor price: offer_price × P(success)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Mean reversion: 10% daily convergence to anchor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Forward decay: accelerating rate (0.04 + 0.005t/T)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95% confidence band: ±1.96σ (σ grows with horizon)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Scenario shocks: FTC Phase II, VIX spike, rate shock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Visualization (Recharts ComposedChart):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Solid line → Historical price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Dashed line → Forecast projection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Shaded area → 95% confidence band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Green reference → Offer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5135727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MONTE CARLO VOTE SIMULATOR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3,000 random samples per simulation run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Institutional bloc:   75% weight,  σ = 0.08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Retail / Arb bloc:     25% weight,  σ = 0.12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Activist coalition:    Variable weight &amp; 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4114800"/>
            <a:ext cx="5135727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SAMPLE OUTPUT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Approval probability:  89.24%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Mean support:              68.4%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95% CI:                         [52.1% – 84.7%]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BlackRock → Support  |  Vanguard → Support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Activist Coalition → Against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MODULES 3 &amp;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Regulatory Risk &amp; Geopolitical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Multi-factor risk scoring across 18 regulators and 24 countries.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REGULATORY RISK SCORE (0–100)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Base score:        25 + 6 × num_regulators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HHI impact:       +0.05 × HHI_change (cap 40)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HHI &gt; 200:         +8 bonus (concentrated market)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HHI &gt; 600:         +12 bonus (killer-acquisition flag)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CFIUS review:    +10 (national security concern)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SAMR review:    +10 (China regulatory approval)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CMA review:      +5 (UK Competition &amp; Markets)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Cross-border:    +6 premium for international deals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Sector:               Tech +10, Pharma +8, Healthcare +12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5135727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GEOPOLITICAL FRICTION FORMULA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Score = (FR_acq + FR_tgt) × 50 × (0.7 + 0.6 × CrossBorder)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200400"/>
            <a:ext cx="5135727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24-COUNTRY FRICTION INDEX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🇨🇦  Canada:   0.10         🇮🇳  India:       0.30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🇺🇸  US:          0.15         🇹🇼  Taiwan:    0.45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🇬🇧  UK:          0.12         🇨🇳  China:      0.85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🇯🇵  Japan:     0.20         🇷🇺  Russia:     0.95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🇸🇬  Singapore: 0.18     🇰🇷  S. Korea: 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18 Regulators tracked:  FTC · DOJ · CFIUS · EC · CMA · SAMR · JFTC · CCI · SEBI · NCLT · FIRB · CADE · FRB · OCC · STB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MODULE 6 — AI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LLM-Powered Regulatory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Claude Sonnet 4.5 streaming analysis with precedent citations.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92300"/>
            <a:ext cx="5135727" cy="44069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2563EB"/>
                </a:solidFill>
                <a:latin typeface="Calibri"/>
              </a:rPr>
              <a:t>LLM PROMPT ENGINEERING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System role: "Senior M&amp;A antitrust attorney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at a top-tier merger arbitrage hedge fund"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Context injected into each prompt: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Deal metadata (acquirer, target, value, sector)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Regulatory jurisdictions &amp; HHI concentration 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Cross-border dynamics &amp; country risk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Our model outputs (P(success), reg risk score)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Required structured output: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1. Top 3 antitrust concerns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2. Precedent cases with outcomes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3. Likely remedies or divestitures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4. Timeline estimate to close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5. Recommendation: Hold / Buy /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5135727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STREAMING ARCHITECTURE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Protocol:     Server-Sent Events (SSE)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Backend:     FastAPI StreamingResponse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Frontend:    ReadableStream + TextDecoder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Format:       data: {"delta": "text..."}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Real-time typing effect in the UI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Abort/Stop button via AbortController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• Live markdown rendering as tokens arrive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4663440"/>
            <a:ext cx="5135727" cy="158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D97706"/>
                </a:solidFill>
                <a:latin typeface="Calibri"/>
              </a:rPr>
              <a:t>HISTORICAL CASES REFERENCED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Microsoft-Activision (CMA blocked → won on appeal)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Nvidia-Arm (FTC sued → deal abandoned)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Adobe-Figma (EU/UK → deal abandoned)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 dirty="0">
                <a:solidFill>
                  <a:srgbClr val="334155"/>
                </a:solidFill>
                <a:latin typeface="Calibri"/>
              </a:rPr>
              <a:t>Kroger-Albertsons (FTC sued → pending)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Full-stack application built with modern, production-grade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BACKEND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Framework:        FastAPI 0.110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Database:            MongoDB + Motor 3.3 (async)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Validation:           Pydantic 2.6+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Server:                 Uvicorn 0.25 (ASGI)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Computation:      NumPy 1.26 + Pandas 2.2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LLM:                     Claude Sonnet 4.5 (Anthropic)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Auth:                     Python-Jose + BCrypt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5135727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FRONTEND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Framework:        React 19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Styling:                TailwindCSS 3.4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Charts:                Recharts 3.6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Graphs:               react-force-graph-2d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Routing:               React Router 7.15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HTTP Client:       Axios 1.16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Animation:          Framer Motion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Icons:                   Lucide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10545775" cy="9423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94A3B8"/>
                </a:solidFill>
                <a:latin typeface="Calibri"/>
              </a:rPr>
              <a:t>DESIGN PHILOSOPHY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🖥  Bloomberg Terminal aesthetic (dark, data-dense)    ·    ⌨  JetBrains Mono for all numerical data    ·    💡  LED status indicators (green/amber/red)    ·    📐  Sharp 1px borders, grid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FRONTEND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Key UI Components &amp;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7 custom-built interactive components and 4 application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59669"/>
                </a:solidFill>
                <a:latin typeface="Calibri"/>
              </a:rPr>
              <a:t>◐  HealthGauge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9659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SVG semicircular gauge with Red/Amber/Green zones and animated needle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891B2"/>
                </a:solidFill>
                <a:latin typeface="Calibri"/>
              </a:rPr>
              <a:t>📊  SpreadChart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688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Recharts ComposedChart: historical line + forecast + shaded confidence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7C3AED"/>
                </a:solidFill>
                <a:latin typeface="Calibri"/>
              </a:rPr>
              <a:t>🕸  ForceGraph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9718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Force-directed deal ecosystem with color-coded nodes and directional particles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🤖  LlmAnalyzePanel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747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SSE stream consumer with live markdown rendering and abort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D97706"/>
                </a:solidFill>
                <a:latin typeface="Calibri"/>
              </a:rPr>
              <a:t>📰  LiveTicker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7764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Auto-scrolling news feed: regulatory, market, activist, and rumor 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DC2626"/>
                </a:solidFill>
                <a:latin typeface="Calibri"/>
              </a:rPr>
              <a:t>📊  AttributionBars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8056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Bidirectional horizontal bars showing positive/negative SHAP attributions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59669"/>
                </a:solidFill>
                <a:latin typeface="Calibri"/>
              </a:rPr>
              <a:t>📋  MilestoneTimeline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8348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Vertical timeline with LED-style status dots: complete / in-progress /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32120"/>
            <a:ext cx="2499283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📋 Dashboard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Deal Universe + Stats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5123" y="5532120"/>
            <a:ext cx="2499283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🔍 Deal Detail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6-Module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6" y="5532120"/>
            <a:ext cx="2499283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🧪 Simulator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What-If Lab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449" y="5532120"/>
            <a:ext cx="2499283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6200"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ℹ️ About</a:t>
            </a:r>
          </a:p>
          <a:p>
            <a:pPr algn="ctr"/>
            <a:r>
              <a:rPr sz="1100">
                <a:solidFill>
                  <a:srgbClr val="94A3B8"/>
                </a:solidFill>
              </a:rPr>
              <a:t>System Overview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FEATURE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What-If Scenario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Interactive shock analysis that recomputes all 6 modules in real-time.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42748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DC2626"/>
                </a:solidFill>
                <a:latin typeface="Calibri"/>
              </a:rPr>
              <a:t>AVAILABLE SCENARIO SHOCKS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⚖  FTC / EC Phase II Investigation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governance_resistance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+0.20,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hhi_change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+150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🏢  Competing Bidder Emerges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competing_bidder_prob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+0.30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📢  New Activist Investor Appears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activist_intensity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+0.25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📈  Interest Rate Shock (−200 to +500 bps)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📊  VIX Spike (0 to +40 points)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63500" cy="2926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2476423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0F172A"/>
                </a:solidFill>
                <a:latin typeface="Consolas"/>
              </a:rPr>
              <a:t>72.4%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2310" y="1965960"/>
            <a:ext cx="2476423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C2626"/>
                </a:solidFill>
                <a:latin typeface="Consolas"/>
              </a:rPr>
              <a:t>53.1%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Scenario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200400"/>
            <a:ext cx="2476423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C2626"/>
                </a:solidFill>
                <a:latin typeface="Consolas"/>
              </a:rPr>
              <a:t>−19.3pp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Delta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2310" y="3200400"/>
            <a:ext cx="2476423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97706"/>
                </a:solidFill>
                <a:latin typeface="Consolas"/>
              </a:rPr>
              <a:t>78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New Reg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445000"/>
            <a:ext cx="5135727" cy="17957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2563EB"/>
                </a:solidFill>
                <a:latin typeface="Calibri"/>
              </a:rPr>
              <a:t>CASCADING RECOMPUTATION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A single shock propagates through ALL modules: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✓ Success probability recalculated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✓ Regulatory risk re-scored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✓ Shareholder vote re-simulated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dirty="0">
                <a:solidFill>
                  <a:srgbClr val="334155"/>
                </a:solidFill>
                <a:latin typeface="Calibri"/>
              </a:rPr>
              <a:t>✓ Spread forecast re-projected with new bands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FEATURE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Deal Ecosystem Force-Directed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Interactive network visualization of all entities in a deal's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Node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9659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Acquirer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891B2"/>
                </a:solidFill>
                <a:latin typeface="Calibri"/>
              </a:rPr>
              <a:t>● Cyan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317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MSFT, AVGO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706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● 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7063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ATVI, VMW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Regulator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09544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●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09544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FTC, CMA, SAMR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48456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4845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● 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48456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Technology,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87368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Geography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087368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● Gray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087368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US, JP, 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Institutional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52628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● Gray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262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BlackRock, Vanguard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65192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Activist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● 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6519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Activist Coalition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04104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Rival Bidder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04104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● Orange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5404104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Potential Rival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3007" y="1965960"/>
            <a:ext cx="5135727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EDGE RELATIONSHIPS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ACQUIRES → Acquirer to Target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REVIEWS → Regulator reviews Target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OPERATES_IN → Entity in Sector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DOMICILED → Entity in Country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OWNS → Shareholder holds Target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PRESSURE → Activist pressures Target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MAY_BID → Rival may compete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5394960"/>
            <a:ext cx="5135727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Calibri"/>
              </a:rPr>
              <a:t>TECHNOLOGY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react-force-graph-2d · Custom Canvas rendering · Neon glow · Directional particles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Benchmarking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System validation through analytical correctness and competitive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VALIDATION RESULTS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Cross-border (AVGO-VMW):         P = 67.4%,  Risk = 74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Domestic cash (XOM-PXD):           P = 78.2%,  Risk = 48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CFIUS+SAMR (AMAT-KMTUY):     P = 55.1%,  Risk = 86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India media (RIL-VIACOM18):      P = 82.7%,  Risk = 52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FTC Phase II shock:                       Δ = −19.3pp avg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✅  Monte Carlo CI stability:                ± 3–5pp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5135727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891B2"/>
                </a:solidFill>
                <a:latin typeface="Calibri"/>
              </a:rPr>
              <a:t>RESPONSE PERFORMANCE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Deal list (30 deals):            &lt; 200ms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Full deal intelligence:          &lt; 350ms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Scenario simulation:            &lt; 250ms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LLM first-token latency:       ~800ms    ⚠️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65960"/>
            <a:ext cx="5135727" cy="4069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VS. INDUSTRY TOOLS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Feature                    Bloomberg   Refinitiv   Ours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━━━━━━━━━━━━━━━━━━━━━━━━━━━━━━━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ML Prediction               ❌                ⚠️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Spread + CI                   ⚠️               ⚠️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Reg Risk Score               ❌                ❌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Vote Simulation             ❌                ❌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LLM Analysis                 ❌                ❌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What-If Scenarios          ⚠️               ⚠️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Ecosystem Graph           ❌                ❌              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━━━━━━━━━━━━━━━━━━━━━━━━━━━━━━━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Annual Cost              $24K/yr      $15K/yr      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Honest assessment of current constraints and planned improvements.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35727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CURRENT LIMITATIONS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📊  Synthetic 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30 manually crafted deals, not validated against live outcomes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⚙️  Heuristic Models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Manually calibrated weights, not learned from historical 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🔌  No Live Data Feeds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No Bloomberg, Refinitiv, or SEC EDGAR integration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🤖  LLM Hallucination Risk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Claude may generate plausible but inaccurate precedent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💱  Single Currency (USD)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No FX risk modeling for cross-border deals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🔄  No Backtesting Framework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Cannot validate against historical deal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65960"/>
            <a:ext cx="5135727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52400" rIns="152400" bIns="10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FUTURE IMPROVEMENTS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📡  Live Data Integration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Bloomberg B-PIPE, SEC EDGAR, Refinitiv feeds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🧠  Trained ML Models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XGBoost/LightGBM on 2,000+ historical deals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📚  RAG Pipeline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Vector DB indexing FTC/EU decisions for LLM grounding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🔔  Alert System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Email/Slack notifications on spread changes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📊  Portfolio Optimization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Kelly criterion, risk parity, correlated failure modeling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📱  Mobile Application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>
                <a:solidFill>
                  <a:srgbClr val="334155"/>
                </a:solidFill>
                <a:latin typeface="Calibri"/>
              </a:rPr>
              <a:t>      Responsive mobile interface for on-the-go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30 Synthetic M&amp;A Deals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Realistic deals spanning multiple sectors, countries, and regulatory regimes.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40" y="1965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Regulators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965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Microsoft → Activision Blizzard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1343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$68.7B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1343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Technology / Gaming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1343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FTC, CMA, EC, SAMR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31343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974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Broadcom → VMware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6974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$61.0B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974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Technology /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FTC, CMA, EC, SAMR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974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81528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ExxonMobil → Pioneer Natural 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08152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$64.5B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8152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Energy / Oil &amp; 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81528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081528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65576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Chevron → Hess Corporation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4655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$53.0B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6557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Energy / Oil &amp; Gas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465576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FTC, Arbitration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465576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97706"/>
                </a:solidFill>
                <a:latin typeface="Calibri"/>
              </a:rPr>
              <a:t>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49624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Reliance Ind. → Viacom18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38496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$8.5B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49624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Media &amp; Entertainment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849624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CCI, NCLT, SEBI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849624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59669"/>
                </a:solidFill>
                <a:latin typeface="Calibri"/>
              </a:rPr>
              <a:t>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233672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Applied Materials → Kokusai Elec.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23367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$9.0B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23367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Semiconductors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33672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SAMR, JFTC, CFIUS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233672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D97706"/>
                </a:solidFill>
                <a:latin typeface="Calibri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572000"/>
            <a:ext cx="6675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... and 24 more deals across Pharma, Cybersecurity, Insurance, Banking, and Mining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02920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059669"/>
                </a:solidFill>
                <a:latin typeface="Consolas"/>
              </a:rPr>
              <a:t>30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Total Deals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05123" y="502920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2563EB"/>
                </a:solidFill>
                <a:latin typeface="Consolas"/>
              </a:rPr>
              <a:t>12+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Industry Sectors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7286" y="502920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D97706"/>
                </a:solidFill>
                <a:latin typeface="Consolas"/>
              </a:rPr>
              <a:t>18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Regulators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449" y="5029200"/>
            <a:ext cx="2499283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0" rtlCol="0" anchor="ctr"/>
          <a:lstStyle/>
          <a:p>
            <a:pPr algn="ctr"/>
            <a:r>
              <a:rPr sz="3400" b="1">
                <a:solidFill>
                  <a:srgbClr val="7C3AED"/>
                </a:solidFill>
                <a:latin typeface="Consolas"/>
              </a:rPr>
              <a:t>24</a:t>
            </a:r>
          </a:p>
          <a:p>
            <a:pPr algn="ctr"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Countries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0" y="822960"/>
            <a:ext cx="33832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2563EB"/>
                </a:solidFill>
                <a:latin typeface="Calibri"/>
              </a:rPr>
              <a:t>Arbitrage.Terminal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334155"/>
                </a:solidFill>
                <a:latin typeface="Calibri"/>
              </a:rPr>
              <a:t>Successfully built a full-stack AI platform that integrates 6 quantitative modules — ML prediction, time-series forecasting, regulatory risk, Monte Carlo simulation, geopolitical friction, and LLM analysis — into a single, professional-grade decision-support tool for merger arbitrage.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2194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000" b="1">
                <a:solidFill>
                  <a:srgbClr val="2563EB"/>
                </a:solidFill>
                <a:latin typeface="Consola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QUANT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474720"/>
            <a:ext cx="2194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000" b="1">
                <a:solidFill>
                  <a:srgbClr val="2563EB"/>
                </a:solidFill>
                <a:latin typeface="Consola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0690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SYNTHETIC DEALS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2194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000" b="1">
                <a:solidFill>
                  <a:srgbClr val="2563EB"/>
                </a:solidFill>
                <a:latin typeface="Consola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0690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474720"/>
            <a:ext cx="2194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000" b="1">
                <a:solidFill>
                  <a:srgbClr val="2563EB"/>
                </a:solidFill>
                <a:latin typeface="Consola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06908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CUSTOM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57800"/>
            <a:ext cx="8503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F172A"/>
                </a:solidFill>
                <a:latin typeface="Calibri"/>
              </a:rPr>
              <a:t>Mohit Patle (27PGAI0102)   ·   Pushkar Brahmankar (27PGAI0100)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6235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Jio Institute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943600"/>
            <a:ext cx="5760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PGP Artificial Intelligence and Data Science  ·  June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6400800"/>
            <a:ext cx="1054577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4770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Jio Institute · PGP AI &amp; Data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7135" y="6477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2563EB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6162</Words>
  <Application>Microsoft Macintosh PowerPoint</Application>
  <PresentationFormat>Widescreen</PresentationFormat>
  <Paragraphs>699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 patle (27PGAI)</cp:lastModifiedBy>
  <cp:revision>2</cp:revision>
  <dcterms:created xsi:type="dcterms:W3CDTF">2013-01-27T09:14:16Z</dcterms:created>
  <dcterms:modified xsi:type="dcterms:W3CDTF">2026-07-02T17:57:16Z</dcterms:modified>
  <cp:category/>
</cp:coreProperties>
</file>